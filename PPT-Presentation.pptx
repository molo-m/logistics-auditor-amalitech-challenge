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3C28D-2C58-4C1F-8AB9-3468AC6FD09E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7511F-382F-4AB2-A75F-92D767883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2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Paulo was used as a geographic reference point because distribution-center coordinates were not available in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7511F-382F-4AB2-A75F-92D7678834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4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3669-DBF5-70DD-1DAE-3888998F0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C7E0E-27CF-C0FE-F031-81FEE386D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DD18-05EE-9031-0BBE-9B212CE6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B76D-402E-860F-EB35-1226DE90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5395B-2F1C-57B9-D595-64676247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3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BAAE-EF27-884F-169D-6B79992E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F1174-E96D-6DB4-C0A9-24C4572C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38FC8-5867-0F47-66D6-912CF926A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405A4-A5EE-F941-FCA2-CA0FB6ED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97B4-D145-E147-B308-A47F55DF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4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09A7-24B8-CBFD-83E3-99A95EF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26E05-E71D-CF70-02FA-80E5D14FC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74834-8192-21D6-2CB8-D8A36D22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E4ED-414B-45C4-FC16-DDDA727B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B1E88-FF83-8012-6062-59428E2E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1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5316-E91D-67A3-3D5A-188B8486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86A6-DCCF-2636-FD1A-84C099BE1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76C80-E7EC-3F76-4F3F-36350A10E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496E5-8EBA-D9A0-446E-6BB7068B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6A854-9DAC-D82D-AE99-7867C2FE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8A59-DE83-BC49-BA0B-914FCF9C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8A23-B5C5-EC73-2405-ACBB9F32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54DDE-5453-66CB-CD6D-6CE34C19F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8EFDD-F328-F063-651D-FF29DC504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4B4DB-ADE9-22F4-9935-0DF05C426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65231-B746-FAFE-26B7-4B9A9FEB5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FA797-5C0A-C121-9B1E-AAD4BD73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9705F-246C-3730-E100-59D76980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6F73D-7E65-CBEF-1BDD-A994EA28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F735-FEDF-0930-BA80-78BFA19B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FF4D5-8F1A-B0BD-867E-6D9B906A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A84B8-4E30-FF6B-A6DA-C89D1CD2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FA174-5257-0327-E939-37088442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0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8A683-759B-F74C-9ADD-323CE9FE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2718D-4455-9C75-0F2D-668B2019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1D75F-739A-0FB2-914B-0C421137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4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C2FB-4115-05FF-3128-849A5332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9188B-40E1-4D3F-6ABF-50F60363E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0059D-3A49-4364-E344-24C504280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C2285-FA3E-DDB2-696A-63B23E1B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50DC0-B6B2-FF55-22F1-B92EEB35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A84A6-9E0D-4A65-D3DF-14EAA453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3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67349-AEE9-A7DE-547B-5E751E01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EDB9F-4AAE-C87B-5A90-8FC224EEA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C7107-F1C1-3872-23D2-1D3484A2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1B077-9C92-82B1-D2F7-64220BAB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DD51-2A54-2388-FD43-7DC5A036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79076-66DD-FF3C-682C-4C1C6CD6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5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557E-A0DC-CF6A-1723-7AD27B46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BC867-AEF3-A7C2-B3C0-5663A25CA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AB3B-331F-CCE2-C870-648690E1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69CC2-3948-DF5A-BFA0-D6FE4B30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70C4-C1C6-6EDA-D71B-9D0BA1D0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251F8-0C96-1476-BF56-3A0A769C5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161DF-7E77-C519-5542-70A492846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669-4A4C-B98C-FC56-02A1ABAF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CDB8B-FE4D-D5EF-1B67-A51FD21D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A9E67-7115-923E-F21D-DB6BCB36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9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2D3C4-C84C-B40D-F4F6-64FBBF57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CEEE9-1618-FA60-111C-ECD4EC28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24D00-3156-108B-BBD0-288AFF2E2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4DA00-FFD4-43F5-9AB0-D157EDF4B1E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35BD0-2455-0F90-FC70-B95CF376C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5B718-5BC9-AFEA-702C-FFC43AC69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133A7-50A0-4833-80FD-A798ABD10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E04B-62BD-4E78-0278-4013022B4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E-Commerce Logistics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5D1D7-EA14-9547-C0CE-396E39CFA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Molo Munyansanga</a:t>
            </a:r>
          </a:p>
        </p:txBody>
      </p:sp>
    </p:spTree>
    <p:extLst>
      <p:ext uri="{BB962C8B-B14F-4D97-AF65-F5344CB8AC3E}">
        <p14:creationId xmlns:p14="http://schemas.microsoft.com/office/powerpoint/2010/main" val="28443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1E49-934E-9099-7F00-CCB7EF65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A393-6D25-A353-6565-98E2E2B34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e-commerce delivery performance using the </a:t>
            </a:r>
            <a:r>
              <a:rPr lang="en-US" dirty="0" err="1"/>
              <a:t>Olist</a:t>
            </a:r>
            <a:r>
              <a:rPr lang="en-US" dirty="0"/>
              <a:t> Brazilian E-Commerce dataset. </a:t>
            </a:r>
          </a:p>
          <a:p>
            <a:r>
              <a:rPr lang="en-US" dirty="0"/>
              <a:t>The goal is to determine whether delivery delays are concentrated in specific regions and whether late deliveries are contributing to lower customer satisfaction. </a:t>
            </a:r>
          </a:p>
          <a:p>
            <a:r>
              <a:rPr lang="en-US" dirty="0"/>
              <a:t>The analysis combines </a:t>
            </a:r>
            <a:r>
              <a:rPr lang="en-US" b="1" dirty="0"/>
              <a:t>delivery performance, geographic patterns, and customer reviews</a:t>
            </a:r>
            <a:r>
              <a:rPr lang="en-US" dirty="0"/>
              <a:t> to identify key logistics issues and areas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305081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98B1-1239-41F1-B122-DFEFADF35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272B7-A694-1A23-EE85-E0E4B1C04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Delivery reliability is generally high, but regional disparities exist.</a:t>
            </a:r>
          </a:p>
          <a:p>
            <a:endParaRPr lang="en-US" dirty="0"/>
          </a:p>
          <a:p>
            <a:r>
              <a:rPr lang="en-US" dirty="0"/>
              <a:t>Northern states show some of the highest late-delivery percentages.</a:t>
            </a:r>
          </a:p>
          <a:p>
            <a:endParaRPr lang="en-US" dirty="0"/>
          </a:p>
          <a:p>
            <a:r>
              <a:rPr lang="en-US" dirty="0"/>
              <a:t>Late deliveries are strongly associated with lower customer satisfaction, with severe delays producing the lowest ratings.</a:t>
            </a:r>
          </a:p>
        </p:txBody>
      </p:sp>
    </p:spTree>
    <p:extLst>
      <p:ext uri="{BB962C8B-B14F-4D97-AF65-F5344CB8AC3E}">
        <p14:creationId xmlns:p14="http://schemas.microsoft.com/office/powerpoint/2010/main" val="190249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C795-559B-F0DC-F25F-8E345D2D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97% of Orders Reached Delivered Status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844E62-780C-FE46-EC73-0D9AD1CB01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11" y="1690688"/>
            <a:ext cx="5637189" cy="458580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1DA24E-249C-1A9C-7C57-4009BCEA9B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vast majority of orders reached the delivered stage. </a:t>
            </a:r>
          </a:p>
          <a:p>
            <a:r>
              <a:rPr lang="en-US" dirty="0"/>
              <a:t>Approximately 3% remained in other fulfillment statuses, including canceled, unavailable, shipped, processing, invoiced, created and approved.</a:t>
            </a:r>
          </a:p>
        </p:txBody>
      </p:sp>
    </p:spTree>
    <p:extLst>
      <p:ext uri="{BB962C8B-B14F-4D97-AF65-F5344CB8AC3E}">
        <p14:creationId xmlns:p14="http://schemas.microsoft.com/office/powerpoint/2010/main" val="194475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BC5E-5AD7-7405-BEA0-4D1D9CCC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Late Delivery Hurt Customers?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889E4E-7ACE-97AF-85D8-613FF823DD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6" y="2161862"/>
            <a:ext cx="6142244" cy="367886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27B0A-0D58-07E4-35D9-9674A7149D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Not all delays are equal. </a:t>
            </a:r>
          </a:p>
          <a:p>
            <a:r>
              <a:rPr lang="en-US" dirty="0"/>
              <a:t>Late deliveries resulted in reduced customer satisfaction on average.</a:t>
            </a:r>
          </a:p>
          <a:p>
            <a:r>
              <a:rPr lang="en-US" dirty="0"/>
              <a:t>The satisfaction was even lower for deliveries that were late by more than 5 days.</a:t>
            </a:r>
          </a:p>
        </p:txBody>
      </p:sp>
    </p:spTree>
    <p:extLst>
      <p:ext uri="{BB962C8B-B14F-4D97-AF65-F5344CB8AC3E}">
        <p14:creationId xmlns:p14="http://schemas.microsoft.com/office/powerpoint/2010/main" val="177982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27AD-7A9B-F39F-757B-45D14D46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a Regional Problem?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A61CEB-0C30-73E9-D5F5-606FE0B897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6" t="5513" r="1469" b="8762"/>
          <a:stretch>
            <a:fillRect/>
          </a:stretch>
        </p:blipFill>
        <p:spPr>
          <a:xfrm>
            <a:off x="231790" y="1690687"/>
            <a:ext cx="5656738" cy="435133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A5D06-CB2F-8DA7-0B6F-128CAC758D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far North/Northeast shows a stronger concentration of late deliveries than many southern and central states.</a:t>
            </a:r>
          </a:p>
        </p:txBody>
      </p:sp>
    </p:spTree>
    <p:extLst>
      <p:ext uri="{BB962C8B-B14F-4D97-AF65-F5344CB8AC3E}">
        <p14:creationId xmlns:p14="http://schemas.microsoft.com/office/powerpoint/2010/main" val="101978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44FE-E9E9-D54B-7A90-6E93ACDE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5A0B4B-D547-6684-5A12-DD31DC53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operational investigation on states with the highest late-delivery rates, particularly in the North/Northeast.</a:t>
            </a:r>
          </a:p>
          <a:p>
            <a:r>
              <a:rPr lang="en-US" dirty="0"/>
              <a:t>Investigate whether estimated delivery dates are systematically too optimistic for high-risk regions.</a:t>
            </a:r>
          </a:p>
          <a:p>
            <a:r>
              <a:rPr lang="en-US" dirty="0"/>
              <a:t>Track </a:t>
            </a:r>
            <a:r>
              <a:rPr lang="en-US" b="1" dirty="0"/>
              <a:t>Super Late (&gt;5 days)</a:t>
            </a:r>
            <a:r>
              <a:rPr lang="en-US" dirty="0"/>
              <a:t> deliveries separately because they have the strongest relationship with poor customer ratings.</a:t>
            </a:r>
          </a:p>
        </p:txBody>
      </p:sp>
    </p:spTree>
    <p:extLst>
      <p:ext uri="{BB962C8B-B14F-4D97-AF65-F5344CB8AC3E}">
        <p14:creationId xmlns:p14="http://schemas.microsoft.com/office/powerpoint/2010/main" val="308600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E-Commerce Logistics Review</vt:lpstr>
      <vt:lpstr>Introduction</vt:lpstr>
      <vt:lpstr>Summary</vt:lpstr>
      <vt:lpstr>97% of Orders Reached Delivered Status</vt:lpstr>
      <vt:lpstr>Does Late Delivery Hurt Customers?</vt:lpstr>
      <vt:lpstr>Is It a Regional Problem?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Molo Munyansanga</dc:creator>
  <cp:lastModifiedBy>Molo Munyansanga</cp:lastModifiedBy>
  <cp:revision>1</cp:revision>
  <dcterms:created xsi:type="dcterms:W3CDTF">2026-08-15T00:02:22Z</dcterms:created>
  <dcterms:modified xsi:type="dcterms:W3CDTF">2026-08-15T00:02:51Z</dcterms:modified>
</cp:coreProperties>
</file>